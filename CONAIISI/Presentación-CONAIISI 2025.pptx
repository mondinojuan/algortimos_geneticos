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8" r:id="rId5"/>
    <p:sldMasterId id="2147483744" r:id="rId6"/>
    <p:sldMasterId id="2147483756" r:id="rId7"/>
  </p:sldMasterIdLst>
  <p:notesMasterIdLst>
    <p:notesMasterId r:id="rId20"/>
  </p:notesMasterIdLst>
  <p:sldIdLst>
    <p:sldId id="257" r:id="rId8"/>
    <p:sldId id="258" r:id="rId9"/>
    <p:sldId id="259" r:id="rId10"/>
    <p:sldId id="260" r:id="rId11"/>
    <p:sldId id="266" r:id="rId12"/>
    <p:sldId id="267" r:id="rId13"/>
    <p:sldId id="261" r:id="rId14"/>
    <p:sldId id="268" r:id="rId15"/>
    <p:sldId id="269" r:id="rId16"/>
    <p:sldId id="270" r:id="rId17"/>
    <p:sldId id="264" r:id="rId18"/>
    <p:sldId id="265" r:id="rId1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7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D032B-DE16-491E-8B00-A01D0A58CCDE}" type="datetimeFigureOut">
              <a:rPr lang="es-AR" smtClean="0"/>
              <a:t>4/11/2025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19BBC-DEB0-44AF-9B85-D869074C20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52991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Densa</a:t>
            </a:r>
          </a:p>
          <a:p>
            <a:r>
              <a:rPr lang="es-AR" dirty="0"/>
              <a:t>Pesos</a:t>
            </a:r>
          </a:p>
          <a:p>
            <a:r>
              <a:rPr lang="es-AR" dirty="0"/>
              <a:t>Sesgo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19BBC-DEB0-44AF-9B85-D869074C2052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74730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A6DFC-08A1-42F3-96E9-74D4D599B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3883892-CB9C-980F-1328-C5A778205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E6552AE-14E4-1BF2-DE20-E77FD6220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Densa</a:t>
            </a:r>
          </a:p>
          <a:p>
            <a:r>
              <a:rPr lang="es-AR" dirty="0"/>
              <a:t>Pesos</a:t>
            </a:r>
          </a:p>
          <a:p>
            <a:r>
              <a:rPr lang="es-AR" dirty="0"/>
              <a:t>Sesgo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0EB228-4356-248A-B195-39AC766B9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19BBC-DEB0-44AF-9B85-D869074C2052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81827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F4544-1E8E-91A8-3B4E-142708683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E089314-E0E0-B4AA-E76A-E8FCC6EA9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42E43CB-6E34-D0C8-3BBC-DB946543F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Densa</a:t>
            </a:r>
          </a:p>
          <a:p>
            <a:r>
              <a:rPr lang="es-AR" dirty="0"/>
              <a:t>Pesos</a:t>
            </a:r>
          </a:p>
          <a:p>
            <a:r>
              <a:rPr lang="es-AR" dirty="0"/>
              <a:t>Sesgo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E254E5-47AE-62C5-924A-A30E7FDE5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19BBC-DEB0-44AF-9B85-D869074C2052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49381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132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86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712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829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429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720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487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180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294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800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724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978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158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624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325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6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434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2960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7452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264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3585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913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0411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643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4731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62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02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186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9668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8022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3364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5064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532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6752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4070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9978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4475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8186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9046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3879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331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3869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3166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7164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69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32959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3138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64143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136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70875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9246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53395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70446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4818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2321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7539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10930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51226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52048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84133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93430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00078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15678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50220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77079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6988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57829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57697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09681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77404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45367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141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1713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85635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17650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614741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991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433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515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47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01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145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971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27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fondo p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0384"/>
            <a:ext cx="12192000" cy="5817616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0" y="1888948"/>
            <a:ext cx="12192000" cy="2098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1"/>
              </a:lnSpc>
            </a:pPr>
            <a:r>
              <a:rPr lang="es-ES" altLang="es-AR" sz="4400" b="1" dirty="0"/>
              <a:t>MACHINE LEARNING Y SU VINCULACIÓN CON ALGORITMOS GENÉTICOS PARA LA PLANIFICACIÓN ÓPTIMA DE CULTIVOS</a:t>
            </a:r>
            <a:endParaRPr lang="es-AR" altLang="es-AR" sz="4400" b="1" dirty="0"/>
          </a:p>
          <a:p>
            <a:pPr algn="ctr">
              <a:lnSpc>
                <a:spcPts val="3211"/>
              </a:lnSpc>
            </a:pPr>
            <a:endParaRPr lang="en-US" sz="4400" b="1" dirty="0">
              <a:solidFill>
                <a:schemeClr val="tx2">
                  <a:lumMod val="75000"/>
                </a:schemeClr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3211"/>
              </a:lnSpc>
            </a:pPr>
            <a:endParaRPr lang="en-US" sz="4400" b="1" dirty="0">
              <a:solidFill>
                <a:schemeClr val="tx2">
                  <a:lumMod val="75000"/>
                </a:schemeClr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0" y="4457700"/>
            <a:ext cx="12192000" cy="1103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3"/>
              </a:lnSpc>
            </a:pPr>
            <a:r>
              <a:rPr lang="es-AR" sz="2800" noProof="0" dirty="0">
                <a:solidFill>
                  <a:schemeClr val="tx2">
                    <a:lumMod val="7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Mondino, Juan Cruz; </a:t>
            </a:r>
            <a:r>
              <a:rPr lang="es-AR" sz="2800" noProof="0" dirty="0" err="1">
                <a:solidFill>
                  <a:schemeClr val="tx2">
                    <a:lumMod val="7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Giampietro</a:t>
            </a:r>
            <a:r>
              <a:rPr lang="es-AR" sz="2800" noProof="0" dirty="0">
                <a:solidFill>
                  <a:schemeClr val="tx2">
                    <a:lumMod val="7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, Gustavo; Mateo, Alexis</a:t>
            </a:r>
          </a:p>
          <a:p>
            <a:pPr algn="ctr">
              <a:lnSpc>
                <a:spcPts val="2933"/>
              </a:lnSpc>
            </a:pPr>
            <a:r>
              <a:rPr lang="es-AR" sz="2800" noProof="0" dirty="0">
                <a:solidFill>
                  <a:schemeClr val="tx2">
                    <a:lumMod val="7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UTN Facultad Regional Rosario</a:t>
            </a:r>
          </a:p>
          <a:p>
            <a:pPr algn="ctr">
              <a:lnSpc>
                <a:spcPts val="2933"/>
              </a:lnSpc>
            </a:pPr>
            <a:r>
              <a:rPr lang="es-AR" sz="2400" dirty="0">
                <a:solidFill>
                  <a:schemeClr val="tx2">
                    <a:lumMod val="7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juancm.2000@hotmail.com – gustgiam2001@gmail.com – alexisjoelmateo@gmail.com</a:t>
            </a:r>
            <a:endParaRPr lang="es-AR" sz="2400" noProof="0" dirty="0">
              <a:solidFill>
                <a:schemeClr val="tx2">
                  <a:lumMod val="75000"/>
                </a:schemeClr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20" name="Picture 19" descr="Banner Presentac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10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08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92302" y="1893028"/>
            <a:ext cx="514666" cy="514666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192302" y="2746255"/>
            <a:ext cx="514666" cy="514666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192302" y="4452709"/>
            <a:ext cx="514666" cy="514666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92302" y="3599482"/>
            <a:ext cx="514666" cy="514666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92302" y="5305936"/>
            <a:ext cx="514666" cy="514666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136180" y="1752089"/>
            <a:ext cx="4881832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s-AR" sz="2800" noProof="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Introducción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36180" y="2606801"/>
            <a:ext cx="4881832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560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Marco Teórico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36180" y="3461513"/>
            <a:ext cx="4881832" cy="633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5600"/>
              </a:lnSpc>
              <a:spcBef>
                <a:spcPct val="0"/>
              </a:spcBef>
            </a:pPr>
            <a:r>
              <a:rPr lang="es-AR" sz="2800" noProof="0" dirty="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Funcionamiento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67898" y="1892424"/>
            <a:ext cx="363474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</a:pPr>
            <a:r>
              <a:rPr lang="en-US" sz="2400" b="1">
                <a:solidFill>
                  <a:srgbClr val="000000"/>
                </a:solidFill>
                <a:latin typeface="Nourd Heavy"/>
                <a:ea typeface="Nourd Heavy"/>
                <a:cs typeface="Nourd Heavy"/>
                <a:sym typeface="Nourd Heavy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67898" y="2745651"/>
            <a:ext cx="363474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algn="ctr">
              <a:lnSpc>
                <a:spcPts val="3768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Nourd Heavy"/>
                <a:ea typeface="Nourd Heavy"/>
                <a:cs typeface="Nourd Heavy"/>
                <a:sym typeface="Nourd Heavy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36180" y="4316226"/>
            <a:ext cx="4881832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560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Resultados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67898" y="4452105"/>
            <a:ext cx="363474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algn="ctr">
              <a:lnSpc>
                <a:spcPts val="3768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Nourd Heavy"/>
                <a:ea typeface="Nourd Heavy"/>
                <a:cs typeface="Nourd Heavy"/>
                <a:sym typeface="Nourd Heavy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67898" y="3598878"/>
            <a:ext cx="363474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algn="ctr">
              <a:lnSpc>
                <a:spcPts val="3768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Nourd Heavy"/>
                <a:ea typeface="Nourd Heavy"/>
                <a:cs typeface="Nourd Heavy"/>
                <a:sym typeface="Nourd Heavy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36180" y="5170938"/>
            <a:ext cx="4881832" cy="633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5600"/>
              </a:lnSpc>
              <a:spcBef>
                <a:spcPct val="0"/>
              </a:spcBef>
            </a:pPr>
            <a:r>
              <a:rPr lang="es-AR" sz="2800" noProof="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Mejoras a futuro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67898" y="5305332"/>
            <a:ext cx="363474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algn="ctr">
              <a:lnSpc>
                <a:spcPts val="3768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Nourd Heavy"/>
                <a:ea typeface="Nourd Heavy"/>
                <a:cs typeface="Nourd Heavy"/>
                <a:sym typeface="Nourd Heavy"/>
              </a:rPr>
              <a:t>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9333" y="1315335"/>
            <a:ext cx="2838391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60"/>
              </a:lnSpc>
              <a:spcBef>
                <a:spcPct val="0"/>
              </a:spcBef>
            </a:pPr>
            <a:r>
              <a:rPr lang="en-US" sz="5300" b="1" dirty="0">
                <a:solidFill>
                  <a:srgbClr val="000000"/>
                </a:solidFill>
                <a:latin typeface="Arial Black" panose="020B0A04020102020204" pitchFamily="34" charset="0"/>
                <a:ea typeface="Nourd Heavy"/>
                <a:cs typeface="Nourd Heavy"/>
                <a:sym typeface="Nourd Heavy"/>
              </a:rPr>
              <a:t>Agenda</a:t>
            </a:r>
          </a:p>
        </p:txBody>
      </p:sp>
      <p:pic>
        <p:nvPicPr>
          <p:cNvPr id="25" name="Picture 24" descr="Banner Presentac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0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958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28920" y="4120954"/>
            <a:ext cx="11427291" cy="16514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7"/>
              </a:lnSpc>
            </a:pPr>
            <a:r>
              <a:rPr lang="es-AR" sz="2000" dirty="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OBJETIVO</a:t>
            </a:r>
          </a:p>
          <a:p>
            <a:pPr>
              <a:lnSpc>
                <a:spcPts val="2607"/>
              </a:lnSpc>
            </a:pPr>
            <a:r>
              <a:rPr lang="es-ES" sz="2000" dirty="0"/>
              <a:t>Desarrollar un modelo de optimización para la planificación espacial de cultivos en parce las agrícolas, utilizando algoritmos genéticos y técnicas de machine learning.</a:t>
            </a:r>
            <a:endParaRPr lang="es-AR" sz="2000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  <a:p>
            <a:pPr>
              <a:lnSpc>
                <a:spcPts val="2607"/>
              </a:lnSpc>
              <a:spcBef>
                <a:spcPct val="0"/>
              </a:spcBef>
            </a:pPr>
            <a:endParaRPr lang="es-AR" sz="2000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  <a:p>
            <a:pPr>
              <a:lnSpc>
                <a:spcPts val="2607"/>
              </a:lnSpc>
              <a:spcBef>
                <a:spcPct val="0"/>
              </a:spcBef>
            </a:pPr>
            <a:endParaRPr lang="en-US" sz="2000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28920" y="1249458"/>
            <a:ext cx="5338480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00"/>
              </a:lnSpc>
              <a:spcBef>
                <a:spcPct val="0"/>
              </a:spcBef>
            </a:pPr>
            <a:r>
              <a:rPr lang="en-US" sz="5334" b="1" dirty="0" err="1">
                <a:solidFill>
                  <a:srgbClr val="000000"/>
                </a:solidFill>
                <a:latin typeface="Arial Black" panose="020B0A04020102020204" pitchFamily="34" charset="0"/>
                <a:ea typeface="Nourd Heavy"/>
                <a:cs typeface="Nourd Heavy"/>
                <a:sym typeface="Nourd Heavy"/>
              </a:rPr>
              <a:t>Introducción</a:t>
            </a:r>
            <a:endParaRPr lang="en-US" sz="5334" b="1" dirty="0">
              <a:solidFill>
                <a:srgbClr val="000000"/>
              </a:solidFill>
              <a:latin typeface="Arial Black" panose="020B0A04020102020204" pitchFamily="34" charset="0"/>
              <a:ea typeface="Nourd Heavy"/>
              <a:cs typeface="Nourd Heavy"/>
              <a:sym typeface="Nourd Heavy"/>
            </a:endParaRPr>
          </a:p>
        </p:txBody>
      </p:sp>
      <p:pic>
        <p:nvPicPr>
          <p:cNvPr id="6" name="Picture 5" descr="Banner Presentac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04528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43FD1C82-D8FF-5135-8D7D-8C6D817265E0}"/>
              </a:ext>
            </a:extLst>
          </p:cNvPr>
          <p:cNvSpPr txBox="1"/>
          <p:nvPr/>
        </p:nvSpPr>
        <p:spPr>
          <a:xfrm>
            <a:off x="528920" y="2274292"/>
            <a:ext cx="11556688" cy="1978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7"/>
              </a:lnSpc>
            </a:pPr>
            <a:r>
              <a:rPr lang="es-AR" sz="2000" dirty="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Problema</a:t>
            </a:r>
          </a:p>
          <a:p>
            <a:pPr>
              <a:lnSpc>
                <a:spcPts val="2607"/>
              </a:lnSpc>
            </a:pPr>
            <a:r>
              <a:rPr lang="es-ES" sz="2000" dirty="0"/>
              <a:t>¿Cómo aplicar modelos de machine learning combinados con algoritmos genéticos para optimizar la planificación agrícola, considerando variables interdependientes como clima, suelo y siembra de diferentes semillas en simultáneo?</a:t>
            </a:r>
            <a:endParaRPr lang="es-AR" sz="2000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  <a:p>
            <a:pPr>
              <a:lnSpc>
                <a:spcPts val="2607"/>
              </a:lnSpc>
              <a:spcBef>
                <a:spcPct val="0"/>
              </a:spcBef>
            </a:pPr>
            <a:endParaRPr lang="es-AR" sz="2000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  <a:p>
            <a:pPr>
              <a:lnSpc>
                <a:spcPts val="2607"/>
              </a:lnSpc>
              <a:spcBef>
                <a:spcPct val="0"/>
              </a:spcBef>
            </a:pPr>
            <a:endParaRPr lang="en-US" sz="2000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</p:txBody>
      </p:sp>
    </p:spTree>
    <p:extLst>
      <p:ext uri="{BB962C8B-B14F-4D97-AF65-F5344CB8AC3E}">
        <p14:creationId xmlns:p14="http://schemas.microsoft.com/office/powerpoint/2010/main" val="265865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489245" y="1232922"/>
            <a:ext cx="5527286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00"/>
              </a:lnSpc>
              <a:spcBef>
                <a:spcPct val="0"/>
              </a:spcBef>
            </a:pPr>
            <a:r>
              <a:rPr lang="es-AR" sz="5334" noProof="0">
                <a:solidFill>
                  <a:srgbClr val="000000"/>
                </a:solidFill>
                <a:latin typeface="Arial Black" panose="020B0A04020102020204" pitchFamily="34" charset="0"/>
                <a:ea typeface="Archivo Black"/>
                <a:cs typeface="Archivo Black"/>
                <a:sym typeface="Archivo Black"/>
              </a:rPr>
              <a:t>Marco Teórico</a:t>
            </a:r>
          </a:p>
        </p:txBody>
      </p:sp>
      <p:pic>
        <p:nvPicPr>
          <p:cNvPr id="10" name="Picture 9" descr="Banner Presentac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104528"/>
          </a:xfrm>
          <a:prstGeom prst="rect">
            <a:avLst/>
          </a:prstGeom>
        </p:spPr>
      </p:pic>
      <p:sp>
        <p:nvSpPr>
          <p:cNvPr id="12" name="TextBox 3"/>
          <p:cNvSpPr txBox="1"/>
          <p:nvPr/>
        </p:nvSpPr>
        <p:spPr>
          <a:xfrm>
            <a:off x="609600" y="2349500"/>
            <a:ext cx="2461404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7"/>
              </a:lnSpc>
            </a:pPr>
            <a:r>
              <a:rPr lang="es-AR" sz="2400" noProof="0" dirty="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Redes Neuronales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1004" y="2374900"/>
            <a:ext cx="8574656" cy="4033818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7D51AA-B1CF-84DE-7C60-33586FA63EE4}"/>
              </a:ext>
            </a:extLst>
          </p:cNvPr>
          <p:cNvSpPr txBox="1"/>
          <p:nvPr/>
        </p:nvSpPr>
        <p:spPr>
          <a:xfrm>
            <a:off x="230038" y="3120133"/>
            <a:ext cx="2840966" cy="308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7"/>
              </a:lnSpc>
            </a:pPr>
            <a:r>
              <a:rPr lang="es-AR" sz="1738" noProof="0" dirty="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Entrada * Peso + Sesgo = Salida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BFB81870-7BE1-D108-21EB-04D1FFD2908C}"/>
              </a:ext>
            </a:extLst>
          </p:cNvPr>
          <p:cNvSpPr txBox="1"/>
          <p:nvPr/>
        </p:nvSpPr>
        <p:spPr>
          <a:xfrm rot="1123186">
            <a:off x="4595733" y="5144465"/>
            <a:ext cx="433467" cy="308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7"/>
              </a:lnSpc>
            </a:pPr>
            <a:r>
              <a:rPr lang="es-AR" sz="1738" noProof="0" dirty="0">
                <a:solidFill>
                  <a:srgbClr val="FF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Peso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D261854-5B8A-866A-C605-3DD9EA369A30}"/>
              </a:ext>
            </a:extLst>
          </p:cNvPr>
          <p:cNvSpPr txBox="1"/>
          <p:nvPr/>
        </p:nvSpPr>
        <p:spPr>
          <a:xfrm>
            <a:off x="5557186" y="5573322"/>
            <a:ext cx="610702" cy="308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7"/>
              </a:lnSpc>
            </a:pPr>
            <a:r>
              <a:rPr lang="es-AR" sz="1738" noProof="0" dirty="0">
                <a:solidFill>
                  <a:srgbClr val="FF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Sesgo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3">
                <a:extLst>
                  <a:ext uri="{FF2B5EF4-FFF2-40B4-BE49-F238E27FC236}">
                    <a16:creationId xmlns:a16="http://schemas.microsoft.com/office/drawing/2014/main" id="{024007B1-C8C9-B35C-8BEE-D47D9E2C8B52}"/>
                  </a:ext>
                </a:extLst>
              </p:cNvPr>
              <p:cNvSpPr txBox="1"/>
              <p:nvPr/>
            </p:nvSpPr>
            <p:spPr>
              <a:xfrm>
                <a:off x="230038" y="4237375"/>
                <a:ext cx="2840966" cy="35907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2607"/>
                  </a:lnSpc>
                </a:pPr>
                <a:r>
                  <a:rPr lang="es-AR" sz="2000" noProof="0" dirty="0">
                    <a:solidFill>
                      <a:srgbClr val="000000"/>
                    </a:solidFill>
                    <a:latin typeface="Arimo" panose="020B0604020202020204" charset="0"/>
                    <a:ea typeface="Arimo" panose="020B0604020202020204" charset="0"/>
                    <a:cs typeface="Arimo" panose="020B0604020202020204" charset="0"/>
                    <a:sym typeface="Montaser Arabic"/>
                  </a:rPr>
                  <a:t>MSE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AR" sz="200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Montaser Arabic"/>
                          </a:rPr>
                        </m:ctrlPr>
                      </m:fPr>
                      <m:num>
                        <m:r>
                          <a:rPr lang="es-AR" sz="2000" b="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Montaser Arabic"/>
                          </a:rPr>
                          <m:t>1</m:t>
                        </m:r>
                      </m:num>
                      <m:den>
                        <m:r>
                          <a:rPr lang="es-AR" sz="2000" b="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Montaser Arabic"/>
                          </a:rPr>
                          <m:t>𝑛</m:t>
                        </m:r>
                      </m:den>
                    </m:f>
                    <m:r>
                      <a:rPr lang="es-AR" sz="2000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Montaser Arabic"/>
                      </a:rPr>
                      <m:t>∗</m:t>
                    </m:r>
                    <m:nary>
                      <m:naryPr>
                        <m:chr m:val="∑"/>
                        <m:ctrlPr>
                          <a:rPr lang="es-AR" sz="2000" b="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Montaser Arabic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AR" sz="2000" b="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Montaser Arabic"/>
                          </a:rPr>
                          <m:t>𝑖</m:t>
                        </m:r>
                        <m:r>
                          <a:rPr lang="es-AR" sz="2000" b="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Montaser Arabic"/>
                          </a:rPr>
                          <m:t>=1</m:t>
                        </m:r>
                      </m:sub>
                      <m:sup>
                        <m:r>
                          <a:rPr lang="es-AR" sz="2000" b="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Montaser Arabic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AR" sz="2000" b="0" i="1" noProof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Montaser Arabic"/>
                              </a:rPr>
                            </m:ctrlPr>
                          </m:sSupPr>
                          <m:e>
                            <m:r>
                              <a:rPr lang="es-AR" sz="2000" b="0" i="1" noProof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Montaser Arabic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AR" sz="2000" b="0" i="1" noProof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Montaser Arabic"/>
                                  </a:rPr>
                                </m:ctrlPr>
                              </m:sSubPr>
                              <m:e>
                                <m:r>
                                  <a:rPr lang="es-AR" sz="2000" b="0" i="1" noProof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Montaser Arabic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s-AR" sz="2000" b="0" i="1" noProof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Montaser Arabic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AR" sz="2000" b="0" i="1" noProof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Montaser Arabic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AR" sz="2000" b="0" i="1" noProof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Montaser Arabic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es-AR" sz="2000" b="0" i="1" noProof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Montaser Arabic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AR" sz="2000" b="0" i="1" noProof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Montaser Arabic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s-AR" sz="2000" b="0" i="1" noProof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sym typeface="Montaser Arabic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  <m:sub>
                                <m:r>
                                  <a:rPr lang="es-AR" sz="2000" b="0" i="1" noProof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sym typeface="Montaser Arabic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AR" sz="2000" b="0" i="1" noProof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Montaser Arabic"/>
                              </a:rPr>
                              <m:t>)</m:t>
                            </m:r>
                          </m:e>
                          <m:sup>
                            <m:r>
                              <a:rPr lang="es-AR" sz="2000" b="0" i="1" noProof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Montaser Arabic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AR" sz="2000" noProof="0" dirty="0">
                  <a:solidFill>
                    <a:srgbClr val="000000"/>
                  </a:solidFill>
                  <a:latin typeface="Arimo" panose="020B0604020202020204" charset="0"/>
                  <a:ea typeface="Arimo" panose="020B0604020202020204" charset="0"/>
                  <a:cs typeface="Arimo" panose="020B0604020202020204" charset="0"/>
                  <a:sym typeface="Montaser Arabic"/>
                </a:endParaRPr>
              </a:p>
            </p:txBody>
          </p:sp>
        </mc:Choice>
        <mc:Fallback>
          <p:sp>
            <p:nvSpPr>
              <p:cNvPr id="9" name="TextBox 3">
                <a:extLst>
                  <a:ext uri="{FF2B5EF4-FFF2-40B4-BE49-F238E27FC236}">
                    <a16:creationId xmlns:a16="http://schemas.microsoft.com/office/drawing/2014/main" id="{024007B1-C8C9-B35C-8BEE-D47D9E2C8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38" y="4237375"/>
                <a:ext cx="2840966" cy="359073"/>
              </a:xfrm>
              <a:prstGeom prst="rect">
                <a:avLst/>
              </a:prstGeom>
              <a:blipFill>
                <a:blip r:embed="rId5"/>
                <a:stretch>
                  <a:fillRect l="-5579" t="-152542" b="-200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lipse 10">
            <a:extLst>
              <a:ext uri="{FF2B5EF4-FFF2-40B4-BE49-F238E27FC236}">
                <a16:creationId xmlns:a16="http://schemas.microsoft.com/office/drawing/2014/main" id="{B5C81386-6167-5C39-C24A-5EB99E80EF37}"/>
              </a:ext>
            </a:extLst>
          </p:cNvPr>
          <p:cNvSpPr/>
          <p:nvPr/>
        </p:nvSpPr>
        <p:spPr>
          <a:xfrm>
            <a:off x="2432649" y="3108877"/>
            <a:ext cx="638355" cy="442576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5EA38E8-DBD6-CE98-3554-04F6363121B8}"/>
              </a:ext>
            </a:extLst>
          </p:cNvPr>
          <p:cNvSpPr/>
          <p:nvPr/>
        </p:nvSpPr>
        <p:spPr>
          <a:xfrm>
            <a:off x="2311878" y="4175185"/>
            <a:ext cx="457201" cy="504766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5629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  <p:bldP spid="11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3FA1C-CD63-72FA-ED16-E0A9EDFF4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D03FC4F7-BC87-871B-D3A8-A6987C38FC05}"/>
              </a:ext>
            </a:extLst>
          </p:cNvPr>
          <p:cNvSpPr txBox="1"/>
          <p:nvPr/>
        </p:nvSpPr>
        <p:spPr>
          <a:xfrm>
            <a:off x="489245" y="1232922"/>
            <a:ext cx="5527286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00"/>
              </a:lnSpc>
              <a:spcBef>
                <a:spcPct val="0"/>
              </a:spcBef>
            </a:pPr>
            <a:r>
              <a:rPr lang="es-AR" sz="5334" noProof="0">
                <a:solidFill>
                  <a:srgbClr val="000000"/>
                </a:solidFill>
                <a:latin typeface="Arial Black" panose="020B0A04020102020204" pitchFamily="34" charset="0"/>
                <a:ea typeface="Archivo Black"/>
                <a:cs typeface="Archivo Black"/>
                <a:sym typeface="Archivo Black"/>
              </a:rPr>
              <a:t>Marco Teórico</a:t>
            </a:r>
          </a:p>
        </p:txBody>
      </p:sp>
      <p:pic>
        <p:nvPicPr>
          <p:cNvPr id="10" name="Picture 9" descr="Banner Presentacion.jpg">
            <a:extLst>
              <a:ext uri="{FF2B5EF4-FFF2-40B4-BE49-F238E27FC236}">
                <a16:creationId xmlns:a16="http://schemas.microsoft.com/office/drawing/2014/main" id="{B081DF92-AA81-E780-27EE-9DC3157D3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104528"/>
          </a:xfrm>
          <a:prstGeom prst="rect">
            <a:avLst/>
          </a:prstGeom>
        </p:spPr>
      </p:pic>
      <p:sp>
        <p:nvSpPr>
          <p:cNvPr id="12" name="TextBox 3">
            <a:extLst>
              <a:ext uri="{FF2B5EF4-FFF2-40B4-BE49-F238E27FC236}">
                <a16:creationId xmlns:a16="http://schemas.microsoft.com/office/drawing/2014/main" id="{61269A4D-C4B1-9F38-F79B-9995EF62B556}"/>
              </a:ext>
            </a:extLst>
          </p:cNvPr>
          <p:cNvSpPr txBox="1"/>
          <p:nvPr/>
        </p:nvSpPr>
        <p:spPr>
          <a:xfrm>
            <a:off x="609599" y="2349500"/>
            <a:ext cx="2987615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7"/>
              </a:lnSpc>
            </a:pPr>
            <a:r>
              <a:rPr lang="es-AR" sz="2400" noProof="0" dirty="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Algoritmos Genéticos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8745DB65-F261-9E5E-1957-AD547971450C}"/>
              </a:ext>
            </a:extLst>
          </p:cNvPr>
          <p:cNvSpPr txBox="1"/>
          <p:nvPr/>
        </p:nvSpPr>
        <p:spPr>
          <a:xfrm>
            <a:off x="1248999" y="4341243"/>
            <a:ext cx="9535064" cy="1309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7"/>
              </a:lnSpc>
            </a:pPr>
            <a:r>
              <a:rPr lang="es-AR" dirty="0" err="1">
                <a:latin typeface="Consolas" panose="020B0609020204030204" pitchFamily="49" charset="0"/>
              </a:rPr>
              <a:t>area_x_s</a:t>
            </a:r>
            <a:r>
              <a:rPr lang="es-AR" dirty="0">
                <a:latin typeface="Consolas" panose="020B0609020204030204" pitchFamily="49" charset="0"/>
              </a:rPr>
              <a:t> = [</a:t>
            </a:r>
            <a:r>
              <a:rPr lang="es-AR" dirty="0" err="1">
                <a:latin typeface="Consolas" panose="020B0609020204030204" pitchFamily="49" charset="0"/>
              </a:rPr>
              <a:t>area_g</a:t>
            </a:r>
            <a:r>
              <a:rPr lang="es-AR" dirty="0">
                <a:latin typeface="Consolas" panose="020B0609020204030204" pitchFamily="49" charset="0"/>
              </a:rPr>
              <a:t>, </a:t>
            </a:r>
            <a:r>
              <a:rPr lang="es-AR" dirty="0" err="1">
                <a:latin typeface="Consolas" panose="020B0609020204030204" pitchFamily="49" charset="0"/>
              </a:rPr>
              <a:t>area_soj</a:t>
            </a:r>
            <a:r>
              <a:rPr lang="es-AR" dirty="0">
                <a:latin typeface="Consolas" panose="020B0609020204030204" pitchFamily="49" charset="0"/>
              </a:rPr>
              <a:t>, </a:t>
            </a:r>
            <a:r>
              <a:rPr lang="es-AR" dirty="0" err="1">
                <a:latin typeface="Consolas" panose="020B0609020204030204" pitchFamily="49" charset="0"/>
              </a:rPr>
              <a:t>area_mz</a:t>
            </a:r>
            <a:r>
              <a:rPr lang="es-AR" dirty="0">
                <a:latin typeface="Consolas" panose="020B0609020204030204" pitchFamily="49" charset="0"/>
              </a:rPr>
              <a:t>, </a:t>
            </a:r>
            <a:r>
              <a:rPr lang="es-AR" dirty="0" err="1">
                <a:latin typeface="Consolas" panose="020B0609020204030204" pitchFamily="49" charset="0"/>
              </a:rPr>
              <a:t>area_t</a:t>
            </a:r>
            <a:r>
              <a:rPr lang="es-AR" dirty="0">
                <a:latin typeface="Consolas" panose="020B0609020204030204" pitchFamily="49" charset="0"/>
              </a:rPr>
              <a:t>, </a:t>
            </a:r>
            <a:r>
              <a:rPr lang="es-AR" dirty="0" err="1">
                <a:latin typeface="Consolas" panose="020B0609020204030204" pitchFamily="49" charset="0"/>
              </a:rPr>
              <a:t>area_sor</a:t>
            </a:r>
            <a:r>
              <a:rPr lang="es-AR" dirty="0">
                <a:latin typeface="Consolas" panose="020B0609020204030204" pitchFamily="49" charset="0"/>
              </a:rPr>
              <a:t>, </a:t>
            </a:r>
            <a:r>
              <a:rPr lang="es-AR" dirty="0" err="1">
                <a:latin typeface="Consolas" panose="020B0609020204030204" pitchFamily="49" charset="0"/>
              </a:rPr>
              <a:t>area_c</a:t>
            </a:r>
            <a:r>
              <a:rPr lang="es-AR" dirty="0">
                <a:latin typeface="Consolas" panose="020B0609020204030204" pitchFamily="49" charset="0"/>
              </a:rPr>
              <a:t>, </a:t>
            </a:r>
            <a:r>
              <a:rPr lang="es-AR" dirty="0" err="1">
                <a:latin typeface="Consolas" panose="020B0609020204030204" pitchFamily="49" charset="0"/>
              </a:rPr>
              <a:t>area_mani</a:t>
            </a:r>
            <a:r>
              <a:rPr lang="es-AR" dirty="0"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2607"/>
              </a:lnSpc>
            </a:pPr>
            <a:endParaRPr lang="es-AR" sz="1738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  <a:p>
            <a:pPr>
              <a:lnSpc>
                <a:spcPts val="2607"/>
              </a:lnSpc>
              <a:spcBef>
                <a:spcPct val="0"/>
              </a:spcBef>
            </a:pPr>
            <a:endParaRPr lang="es-AR" sz="1738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  <a:p>
            <a:pPr>
              <a:lnSpc>
                <a:spcPts val="2607"/>
              </a:lnSpc>
              <a:spcBef>
                <a:spcPct val="0"/>
              </a:spcBef>
            </a:pPr>
            <a:endParaRPr lang="en-US" sz="1738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B1549B0-BF8B-D0A7-939C-1D9C64645F38}"/>
              </a:ext>
            </a:extLst>
          </p:cNvPr>
          <p:cNvSpPr txBox="1"/>
          <p:nvPr/>
        </p:nvSpPr>
        <p:spPr>
          <a:xfrm>
            <a:off x="4316082" y="2697314"/>
            <a:ext cx="2987615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7"/>
              </a:lnSpc>
            </a:pPr>
            <a:r>
              <a:rPr lang="es-AR" sz="2400" noProof="0" dirty="0">
                <a:solidFill>
                  <a:schemeClr val="tx2">
                    <a:lumMod val="60000"/>
                    <a:lumOff val="40000"/>
                  </a:schemeClr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Creación del individuo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912DABFB-00D6-16D5-A75D-92F217D2BE42}"/>
              </a:ext>
            </a:extLst>
          </p:cNvPr>
          <p:cNvSpPr txBox="1"/>
          <p:nvPr/>
        </p:nvSpPr>
        <p:spPr>
          <a:xfrm>
            <a:off x="1248999" y="3172691"/>
            <a:ext cx="9535064" cy="1309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7"/>
              </a:lnSpc>
            </a:pPr>
            <a:r>
              <a:rPr lang="es-AR" dirty="0">
                <a:latin typeface="Consolas" panose="020B0609020204030204" pitchFamily="49" charset="0"/>
              </a:rPr>
              <a:t>SEMILLAS = ['girasol', 'soja', 'maíz', 'trigo', 'sorgo', 'cebada', 'maní']</a:t>
            </a:r>
          </a:p>
          <a:p>
            <a:pPr>
              <a:lnSpc>
                <a:spcPts val="2607"/>
              </a:lnSpc>
            </a:pPr>
            <a:endParaRPr lang="es-AR" sz="1738" dirty="0"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  <a:p>
            <a:pPr>
              <a:lnSpc>
                <a:spcPts val="2607"/>
              </a:lnSpc>
              <a:spcBef>
                <a:spcPct val="0"/>
              </a:spcBef>
            </a:pPr>
            <a:endParaRPr lang="es-AR" sz="1738" dirty="0"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  <a:p>
            <a:pPr>
              <a:lnSpc>
                <a:spcPts val="2607"/>
              </a:lnSpc>
              <a:spcBef>
                <a:spcPct val="0"/>
              </a:spcBef>
            </a:pPr>
            <a:endParaRPr lang="en-US" sz="1738" dirty="0"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0258523E-15A8-855A-3F38-3E33131F87BF}"/>
              </a:ext>
            </a:extLst>
          </p:cNvPr>
          <p:cNvCxnSpPr>
            <a:cxnSpLocks/>
          </p:cNvCxnSpPr>
          <p:nvPr/>
        </p:nvCxnSpPr>
        <p:spPr>
          <a:xfrm>
            <a:off x="9978862" y="3628109"/>
            <a:ext cx="0" cy="658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200D1AAA-9BCE-547C-9389-151E0AAB5E2A}"/>
              </a:ext>
            </a:extLst>
          </p:cNvPr>
          <p:cNvCxnSpPr>
            <a:cxnSpLocks/>
          </p:cNvCxnSpPr>
          <p:nvPr/>
        </p:nvCxnSpPr>
        <p:spPr>
          <a:xfrm>
            <a:off x="8854553" y="3628109"/>
            <a:ext cx="0" cy="658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FD3EF4D9-47C9-7A6F-E4E2-00155D26D7A7}"/>
              </a:ext>
            </a:extLst>
          </p:cNvPr>
          <p:cNvCxnSpPr>
            <a:cxnSpLocks/>
          </p:cNvCxnSpPr>
          <p:nvPr/>
        </p:nvCxnSpPr>
        <p:spPr>
          <a:xfrm>
            <a:off x="7646855" y="3628109"/>
            <a:ext cx="0" cy="658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A6679E2B-95D3-4047-8604-1D564D4D929D}"/>
              </a:ext>
            </a:extLst>
          </p:cNvPr>
          <p:cNvCxnSpPr>
            <a:cxnSpLocks/>
          </p:cNvCxnSpPr>
          <p:nvPr/>
        </p:nvCxnSpPr>
        <p:spPr>
          <a:xfrm>
            <a:off x="6603058" y="3628109"/>
            <a:ext cx="0" cy="658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41EBDDB5-6837-AC05-AED9-3054C17B9063}"/>
              </a:ext>
            </a:extLst>
          </p:cNvPr>
          <p:cNvCxnSpPr>
            <a:cxnSpLocks/>
          </p:cNvCxnSpPr>
          <p:nvPr/>
        </p:nvCxnSpPr>
        <p:spPr>
          <a:xfrm>
            <a:off x="5464372" y="3628109"/>
            <a:ext cx="0" cy="658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2CB60F40-FDD7-B92C-0DDE-0CAC45FE6450}"/>
              </a:ext>
            </a:extLst>
          </p:cNvPr>
          <p:cNvCxnSpPr>
            <a:cxnSpLocks/>
          </p:cNvCxnSpPr>
          <p:nvPr/>
        </p:nvCxnSpPr>
        <p:spPr>
          <a:xfrm>
            <a:off x="4480960" y="3628109"/>
            <a:ext cx="0" cy="658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C6B30898-DF56-A60D-251B-B22E26E2B0B2}"/>
              </a:ext>
            </a:extLst>
          </p:cNvPr>
          <p:cNvCxnSpPr>
            <a:cxnSpLocks/>
          </p:cNvCxnSpPr>
          <p:nvPr/>
        </p:nvCxnSpPr>
        <p:spPr>
          <a:xfrm>
            <a:off x="3143866" y="3628109"/>
            <a:ext cx="0" cy="658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errar llave 35">
            <a:extLst>
              <a:ext uri="{FF2B5EF4-FFF2-40B4-BE49-F238E27FC236}">
                <a16:creationId xmlns:a16="http://schemas.microsoft.com/office/drawing/2014/main" id="{C6CE0131-35FC-5122-EFCE-216EBA89F8AA}"/>
              </a:ext>
            </a:extLst>
          </p:cNvPr>
          <p:cNvSpPr/>
          <p:nvPr/>
        </p:nvSpPr>
        <p:spPr>
          <a:xfrm rot="5400000">
            <a:off x="6479427" y="907454"/>
            <a:ext cx="320040" cy="806285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7FE20F1-2289-CB23-59F3-9B7AE4557FB1}"/>
              </a:ext>
            </a:extLst>
          </p:cNvPr>
          <p:cNvSpPr txBox="1"/>
          <p:nvPr/>
        </p:nvSpPr>
        <p:spPr>
          <a:xfrm>
            <a:off x="3839869" y="5141295"/>
            <a:ext cx="5599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/>
              <a:t>ÁREA TOTAL MARCADA EN EL MAPA</a:t>
            </a:r>
          </a:p>
        </p:txBody>
      </p:sp>
    </p:spTree>
    <p:extLst>
      <p:ext uri="{BB962C8B-B14F-4D97-AF65-F5344CB8AC3E}">
        <p14:creationId xmlns:p14="http://schemas.microsoft.com/office/powerpoint/2010/main" val="201970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E735E-A044-D8D2-9E10-A5C28DD57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1218A157-BE1E-E88D-C73C-0933FA35CE1B}"/>
              </a:ext>
            </a:extLst>
          </p:cNvPr>
          <p:cNvSpPr txBox="1"/>
          <p:nvPr/>
        </p:nvSpPr>
        <p:spPr>
          <a:xfrm>
            <a:off x="489245" y="1232922"/>
            <a:ext cx="5527286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00"/>
              </a:lnSpc>
              <a:spcBef>
                <a:spcPct val="0"/>
              </a:spcBef>
            </a:pPr>
            <a:r>
              <a:rPr lang="es-AR" sz="5334" noProof="0">
                <a:solidFill>
                  <a:srgbClr val="000000"/>
                </a:solidFill>
                <a:latin typeface="Arial Black" panose="020B0A04020102020204" pitchFamily="34" charset="0"/>
                <a:ea typeface="Archivo Black"/>
                <a:cs typeface="Archivo Black"/>
                <a:sym typeface="Archivo Black"/>
              </a:rPr>
              <a:t>Marco Teórico</a:t>
            </a:r>
          </a:p>
        </p:txBody>
      </p:sp>
      <p:pic>
        <p:nvPicPr>
          <p:cNvPr id="10" name="Picture 9" descr="Banner Presentacion.jpg">
            <a:extLst>
              <a:ext uri="{FF2B5EF4-FFF2-40B4-BE49-F238E27FC236}">
                <a16:creationId xmlns:a16="http://schemas.microsoft.com/office/drawing/2014/main" id="{410D95DE-6729-B735-40D7-BF4A625E7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104528"/>
          </a:xfrm>
          <a:prstGeom prst="rect">
            <a:avLst/>
          </a:prstGeom>
        </p:spPr>
      </p:pic>
      <p:sp>
        <p:nvSpPr>
          <p:cNvPr id="12" name="TextBox 3">
            <a:extLst>
              <a:ext uri="{FF2B5EF4-FFF2-40B4-BE49-F238E27FC236}">
                <a16:creationId xmlns:a16="http://schemas.microsoft.com/office/drawing/2014/main" id="{75FFFAF0-3457-E68C-EA29-9563B415DA7A}"/>
              </a:ext>
            </a:extLst>
          </p:cNvPr>
          <p:cNvSpPr txBox="1"/>
          <p:nvPr/>
        </p:nvSpPr>
        <p:spPr>
          <a:xfrm>
            <a:off x="609599" y="2349500"/>
            <a:ext cx="2987615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7"/>
              </a:lnSpc>
            </a:pPr>
            <a:r>
              <a:rPr lang="es-AR" sz="2400" noProof="0" dirty="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Algoritmos Genéticos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AEB5486-2B89-C861-9FF6-AF2EBAEAF842}"/>
              </a:ext>
            </a:extLst>
          </p:cNvPr>
          <p:cNvSpPr txBox="1"/>
          <p:nvPr/>
        </p:nvSpPr>
        <p:spPr>
          <a:xfrm>
            <a:off x="1248999" y="3968954"/>
            <a:ext cx="9535064" cy="1309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7"/>
              </a:lnSpc>
            </a:pPr>
            <a:r>
              <a:rPr lang="es-AR" dirty="0" err="1">
                <a:latin typeface="Consolas" panose="020B0609020204030204" pitchFamily="49" charset="0"/>
              </a:rPr>
              <a:t>area_x_s</a:t>
            </a:r>
            <a:r>
              <a:rPr lang="es-AR" dirty="0">
                <a:latin typeface="Consolas" panose="020B0609020204030204" pitchFamily="49" charset="0"/>
              </a:rPr>
              <a:t> = [</a:t>
            </a:r>
            <a:r>
              <a:rPr lang="es-AR" dirty="0" err="1">
                <a:latin typeface="Consolas" panose="020B0609020204030204" pitchFamily="49" charset="0"/>
              </a:rPr>
              <a:t>area_g</a:t>
            </a:r>
            <a:r>
              <a:rPr lang="es-AR" dirty="0">
                <a:latin typeface="Consolas" panose="020B0609020204030204" pitchFamily="49" charset="0"/>
              </a:rPr>
              <a:t>, </a:t>
            </a:r>
            <a:r>
              <a:rPr lang="es-AR" dirty="0" err="1">
                <a:latin typeface="Consolas" panose="020B0609020204030204" pitchFamily="49" charset="0"/>
              </a:rPr>
              <a:t>area_soj</a:t>
            </a:r>
            <a:r>
              <a:rPr lang="es-AR" dirty="0">
                <a:latin typeface="Consolas" panose="020B0609020204030204" pitchFamily="49" charset="0"/>
              </a:rPr>
              <a:t>, </a:t>
            </a:r>
            <a:r>
              <a:rPr lang="es-AR" dirty="0" err="1">
                <a:latin typeface="Consolas" panose="020B0609020204030204" pitchFamily="49" charset="0"/>
              </a:rPr>
              <a:t>area_mz</a:t>
            </a:r>
            <a:r>
              <a:rPr lang="es-AR" dirty="0">
                <a:latin typeface="Consolas" panose="020B0609020204030204" pitchFamily="49" charset="0"/>
              </a:rPr>
              <a:t>, </a:t>
            </a:r>
            <a:r>
              <a:rPr lang="es-AR" dirty="0" err="1">
                <a:latin typeface="Consolas" panose="020B0609020204030204" pitchFamily="49" charset="0"/>
              </a:rPr>
              <a:t>area_t</a:t>
            </a:r>
            <a:r>
              <a:rPr lang="es-AR" dirty="0">
                <a:latin typeface="Consolas" panose="020B0609020204030204" pitchFamily="49" charset="0"/>
              </a:rPr>
              <a:t>, </a:t>
            </a:r>
            <a:r>
              <a:rPr lang="es-AR" dirty="0" err="1">
                <a:latin typeface="Consolas" panose="020B0609020204030204" pitchFamily="49" charset="0"/>
              </a:rPr>
              <a:t>area_sor</a:t>
            </a:r>
            <a:r>
              <a:rPr lang="es-AR" dirty="0">
                <a:latin typeface="Consolas" panose="020B0609020204030204" pitchFamily="49" charset="0"/>
              </a:rPr>
              <a:t>, </a:t>
            </a:r>
            <a:r>
              <a:rPr lang="es-AR" dirty="0" err="1">
                <a:latin typeface="Consolas" panose="020B0609020204030204" pitchFamily="49" charset="0"/>
              </a:rPr>
              <a:t>area_c</a:t>
            </a:r>
            <a:r>
              <a:rPr lang="es-AR" dirty="0">
                <a:latin typeface="Consolas" panose="020B0609020204030204" pitchFamily="49" charset="0"/>
              </a:rPr>
              <a:t>, </a:t>
            </a:r>
            <a:r>
              <a:rPr lang="es-AR" dirty="0" err="1">
                <a:latin typeface="Consolas" panose="020B0609020204030204" pitchFamily="49" charset="0"/>
              </a:rPr>
              <a:t>area_mani</a:t>
            </a:r>
            <a:r>
              <a:rPr lang="es-AR" dirty="0"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2607"/>
              </a:lnSpc>
            </a:pPr>
            <a:endParaRPr lang="es-AR" sz="1738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  <a:p>
            <a:pPr>
              <a:lnSpc>
                <a:spcPts val="2607"/>
              </a:lnSpc>
              <a:spcBef>
                <a:spcPct val="0"/>
              </a:spcBef>
            </a:pPr>
            <a:endParaRPr lang="es-AR" sz="1738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  <a:p>
            <a:pPr>
              <a:lnSpc>
                <a:spcPts val="2607"/>
              </a:lnSpc>
              <a:spcBef>
                <a:spcPct val="0"/>
              </a:spcBef>
            </a:pPr>
            <a:endParaRPr lang="en-US" sz="1738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652512C-03FD-327E-39F7-49BB3259CA33}"/>
              </a:ext>
            </a:extLst>
          </p:cNvPr>
          <p:cNvSpPr txBox="1"/>
          <p:nvPr/>
        </p:nvSpPr>
        <p:spPr>
          <a:xfrm>
            <a:off x="4316082" y="2697314"/>
            <a:ext cx="2987615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7"/>
              </a:lnSpc>
            </a:pPr>
            <a:r>
              <a:rPr lang="es-AR" sz="2400" noProof="0" dirty="0">
                <a:solidFill>
                  <a:schemeClr val="tx2">
                    <a:lumMod val="60000"/>
                    <a:lumOff val="40000"/>
                  </a:schemeClr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Mutación Swap</a:t>
            </a:r>
          </a:p>
        </p:txBody>
      </p:sp>
      <p:sp>
        <p:nvSpPr>
          <p:cNvPr id="4" name="Flecha: curvada hacia arriba 3">
            <a:extLst>
              <a:ext uri="{FF2B5EF4-FFF2-40B4-BE49-F238E27FC236}">
                <a16:creationId xmlns:a16="http://schemas.microsoft.com/office/drawing/2014/main" id="{657B32D8-AD99-7F4D-4295-1CDC896B6DA1}"/>
              </a:ext>
            </a:extLst>
          </p:cNvPr>
          <p:cNvSpPr/>
          <p:nvPr/>
        </p:nvSpPr>
        <p:spPr>
          <a:xfrm rot="10800000">
            <a:off x="4081673" y="3237434"/>
            <a:ext cx="3456432" cy="731520"/>
          </a:xfrm>
          <a:prstGeom prst="curvedUpArrow">
            <a:avLst/>
          </a:prstGeom>
          <a:solidFill>
            <a:schemeClr val="tx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5" name="Flecha: curvada hacia arriba 4">
            <a:extLst>
              <a:ext uri="{FF2B5EF4-FFF2-40B4-BE49-F238E27FC236}">
                <a16:creationId xmlns:a16="http://schemas.microsoft.com/office/drawing/2014/main" id="{2E3C4AA9-C1B7-9D7D-3572-1E9D493D4446}"/>
              </a:ext>
            </a:extLst>
          </p:cNvPr>
          <p:cNvSpPr/>
          <p:nvPr/>
        </p:nvSpPr>
        <p:spPr>
          <a:xfrm>
            <a:off x="4199567" y="4334715"/>
            <a:ext cx="3456432" cy="731520"/>
          </a:xfrm>
          <a:prstGeom prst="curvedUpArrow">
            <a:avLst/>
          </a:prstGeom>
          <a:solidFill>
            <a:schemeClr val="tx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3DDD74D9-0976-98DC-089C-3DC80732E525}"/>
              </a:ext>
            </a:extLst>
          </p:cNvPr>
          <p:cNvSpPr txBox="1"/>
          <p:nvPr/>
        </p:nvSpPr>
        <p:spPr>
          <a:xfrm>
            <a:off x="4316082" y="2697313"/>
            <a:ext cx="2987615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7"/>
              </a:lnSpc>
            </a:pPr>
            <a:r>
              <a:rPr lang="es-AR" sz="2400" noProof="0" dirty="0">
                <a:solidFill>
                  <a:schemeClr val="tx2">
                    <a:lumMod val="60000"/>
                    <a:lumOff val="40000"/>
                  </a:schemeClr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Función objetivo</a:t>
            </a:r>
          </a:p>
        </p:txBody>
      </p:sp>
    </p:spTree>
    <p:extLst>
      <p:ext uri="{BB962C8B-B14F-4D97-AF65-F5344CB8AC3E}">
        <p14:creationId xmlns:p14="http://schemas.microsoft.com/office/powerpoint/2010/main" val="425329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nner Presentac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04528"/>
          </a:xfrm>
          <a:prstGeom prst="rect">
            <a:avLst/>
          </a:prstGeom>
        </p:spPr>
      </p:pic>
      <p:sp>
        <p:nvSpPr>
          <p:cNvPr id="13" name="TextBox 3"/>
          <p:cNvSpPr txBox="1"/>
          <p:nvPr/>
        </p:nvSpPr>
        <p:spPr>
          <a:xfrm>
            <a:off x="609600" y="2349500"/>
            <a:ext cx="3220528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7"/>
              </a:lnSpc>
            </a:pPr>
            <a:r>
              <a:rPr lang="es-AR" sz="1738" dirty="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1- Selección del área del campo.</a:t>
            </a:r>
          </a:p>
          <a:p>
            <a:pPr>
              <a:lnSpc>
                <a:spcPts val="2607"/>
              </a:lnSpc>
              <a:spcBef>
                <a:spcPct val="0"/>
              </a:spcBef>
            </a:pPr>
            <a:endParaRPr lang="es-AR" sz="1738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  <a:p>
            <a:pPr>
              <a:lnSpc>
                <a:spcPts val="2607"/>
              </a:lnSpc>
              <a:spcBef>
                <a:spcPct val="0"/>
              </a:spcBef>
            </a:pPr>
            <a:endParaRPr lang="en-US" sz="1738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</p:txBody>
      </p:sp>
      <p:sp>
        <p:nvSpPr>
          <p:cNvPr id="15" name="TextBox 6"/>
          <p:cNvSpPr txBox="1"/>
          <p:nvPr/>
        </p:nvSpPr>
        <p:spPr>
          <a:xfrm>
            <a:off x="489244" y="1232922"/>
            <a:ext cx="5997819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0"/>
              </a:lnSpc>
              <a:spcBef>
                <a:spcPct val="0"/>
              </a:spcBef>
            </a:pPr>
            <a:r>
              <a:rPr lang="es-AR" sz="5334" dirty="0">
                <a:solidFill>
                  <a:srgbClr val="000000"/>
                </a:solidFill>
                <a:latin typeface="Arial Black" panose="020B0A04020102020204" pitchFamily="34" charset="0"/>
                <a:ea typeface="Archivo Black"/>
                <a:cs typeface="Archivo Black"/>
                <a:sym typeface="Archivo Black"/>
              </a:rPr>
              <a:t>Funcionamiento</a:t>
            </a:r>
            <a:endParaRPr lang="en-US" sz="5334" dirty="0">
              <a:solidFill>
                <a:srgbClr val="000000"/>
              </a:solidFill>
              <a:latin typeface="Arial Black" panose="020B0A04020102020204" pitchFamily="34" charset="0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2BC51900-6E56-3C65-1347-82CBB34D03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01" r="33523"/>
          <a:stretch>
            <a:fillRect/>
          </a:stretch>
        </p:blipFill>
        <p:spPr>
          <a:xfrm>
            <a:off x="8137269" y="1288727"/>
            <a:ext cx="3220528" cy="504773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FBBA804-1B8B-61F9-F394-8E3B15F869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380" b="-8"/>
          <a:stretch>
            <a:fillRect/>
          </a:stretch>
        </p:blipFill>
        <p:spPr>
          <a:xfrm>
            <a:off x="609600" y="2837358"/>
            <a:ext cx="3654988" cy="3477178"/>
          </a:xfrm>
          <a:prstGeom prst="rect">
            <a:avLst/>
          </a:prstGeom>
        </p:spPr>
      </p:pic>
      <p:pic>
        <p:nvPicPr>
          <p:cNvPr id="4" name="Imagen 3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7D8A465B-2809-B9EC-C1FC-3EE42E08DF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929" b="7"/>
          <a:stretch>
            <a:fillRect/>
          </a:stretch>
        </p:blipFill>
        <p:spPr>
          <a:xfrm>
            <a:off x="4376614" y="2837357"/>
            <a:ext cx="3648629" cy="347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554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F138C-8EE6-C4A3-EB28-05AAFCE9B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nner Presentacion.jpg">
            <a:extLst>
              <a:ext uri="{FF2B5EF4-FFF2-40B4-BE49-F238E27FC236}">
                <a16:creationId xmlns:a16="http://schemas.microsoft.com/office/drawing/2014/main" id="{9C84AAAA-92DB-15C3-F199-50EBB0954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04528"/>
          </a:xfrm>
          <a:prstGeom prst="rect">
            <a:avLst/>
          </a:prstGeom>
        </p:spPr>
      </p:pic>
      <p:sp>
        <p:nvSpPr>
          <p:cNvPr id="13" name="TextBox 3">
            <a:extLst>
              <a:ext uri="{FF2B5EF4-FFF2-40B4-BE49-F238E27FC236}">
                <a16:creationId xmlns:a16="http://schemas.microsoft.com/office/drawing/2014/main" id="{F0FA7308-BDE3-4914-B99D-63F1DA5DAB8A}"/>
              </a:ext>
            </a:extLst>
          </p:cNvPr>
          <p:cNvSpPr txBox="1"/>
          <p:nvPr/>
        </p:nvSpPr>
        <p:spPr>
          <a:xfrm>
            <a:off x="609599" y="2349500"/>
            <a:ext cx="5722189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7"/>
              </a:lnSpc>
            </a:pPr>
            <a:r>
              <a:rPr lang="es-AR" sz="1738" dirty="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2- Entrenamiento de redes neuronales del clima.</a:t>
            </a:r>
          </a:p>
          <a:p>
            <a:pPr>
              <a:lnSpc>
                <a:spcPts val="2607"/>
              </a:lnSpc>
              <a:spcBef>
                <a:spcPct val="0"/>
              </a:spcBef>
            </a:pPr>
            <a:endParaRPr lang="es-AR" sz="1738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  <a:p>
            <a:pPr>
              <a:lnSpc>
                <a:spcPts val="2607"/>
              </a:lnSpc>
              <a:spcBef>
                <a:spcPct val="0"/>
              </a:spcBef>
            </a:pPr>
            <a:endParaRPr lang="en-US" sz="1738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438491E6-5108-213F-3E3A-CE2049C2510B}"/>
              </a:ext>
            </a:extLst>
          </p:cNvPr>
          <p:cNvSpPr txBox="1"/>
          <p:nvPr/>
        </p:nvSpPr>
        <p:spPr>
          <a:xfrm>
            <a:off x="489244" y="1232922"/>
            <a:ext cx="5997819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0"/>
              </a:lnSpc>
              <a:spcBef>
                <a:spcPct val="0"/>
              </a:spcBef>
            </a:pPr>
            <a:r>
              <a:rPr lang="es-AR" sz="5334" dirty="0">
                <a:solidFill>
                  <a:srgbClr val="000000"/>
                </a:solidFill>
                <a:latin typeface="Arial Black" panose="020B0A04020102020204" pitchFamily="34" charset="0"/>
                <a:ea typeface="Archivo Black"/>
                <a:cs typeface="Archivo Black"/>
                <a:sym typeface="Archivo Black"/>
              </a:rPr>
              <a:t>Funcionamiento</a:t>
            </a:r>
            <a:endParaRPr lang="en-US" sz="5334" dirty="0">
              <a:solidFill>
                <a:srgbClr val="000000"/>
              </a:solidFill>
              <a:latin typeface="Arial Black" panose="020B0A04020102020204" pitchFamily="34" charset="0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6" name="Imagen 5" descr="Gráfico&#10;&#10;El contenido generado por IA puede ser incorrecto.">
            <a:extLst>
              <a:ext uri="{FF2B5EF4-FFF2-40B4-BE49-F238E27FC236}">
                <a16:creationId xmlns:a16="http://schemas.microsoft.com/office/drawing/2014/main" id="{FB71BDD9-B844-8B62-D65B-C1243F9351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2746169"/>
            <a:ext cx="11096446" cy="3637680"/>
          </a:xfrm>
          <a:prstGeom prst="rect">
            <a:avLst/>
          </a:prstGeom>
        </p:spPr>
      </p:pic>
      <p:pic>
        <p:nvPicPr>
          <p:cNvPr id="8" name="Imagen 7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E4307A5E-297F-5BF2-B9AA-84C43BFE98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2746171"/>
            <a:ext cx="11096446" cy="3637680"/>
          </a:xfrm>
          <a:prstGeom prst="rect">
            <a:avLst/>
          </a:prstGeom>
        </p:spPr>
      </p:pic>
      <p:pic>
        <p:nvPicPr>
          <p:cNvPr id="10" name="Imagen 9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245BBBEF-F5A3-DDD3-7662-DDD64B1183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2746169"/>
            <a:ext cx="11096446" cy="3637680"/>
          </a:xfrm>
          <a:prstGeom prst="rect">
            <a:avLst/>
          </a:prstGeom>
        </p:spPr>
      </p:pic>
      <p:pic>
        <p:nvPicPr>
          <p:cNvPr id="14" name="Imagen 13" descr="Un conjunto de letras blancas en un fondo blanco&#10;&#10;El contenido generado por IA puede ser incorrecto.">
            <a:extLst>
              <a:ext uri="{FF2B5EF4-FFF2-40B4-BE49-F238E27FC236}">
                <a16:creationId xmlns:a16="http://schemas.microsoft.com/office/drawing/2014/main" id="{07B36EF5-23C7-1257-94B7-172F42D93E9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33" y="2746170"/>
            <a:ext cx="11069012" cy="363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94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26E7A-5B27-E552-D8DB-42004150A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nner Presentacion.jpg">
            <a:extLst>
              <a:ext uri="{FF2B5EF4-FFF2-40B4-BE49-F238E27FC236}">
                <a16:creationId xmlns:a16="http://schemas.microsoft.com/office/drawing/2014/main" id="{8D45EE8A-8618-E5AC-E760-2B07BD5AF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04528"/>
          </a:xfrm>
          <a:prstGeom prst="rect">
            <a:avLst/>
          </a:prstGeom>
        </p:spPr>
      </p:pic>
      <p:sp>
        <p:nvSpPr>
          <p:cNvPr id="13" name="TextBox 3">
            <a:extLst>
              <a:ext uri="{FF2B5EF4-FFF2-40B4-BE49-F238E27FC236}">
                <a16:creationId xmlns:a16="http://schemas.microsoft.com/office/drawing/2014/main" id="{56E2B044-F28F-AD9F-3F02-702F457F8E33}"/>
              </a:ext>
            </a:extLst>
          </p:cNvPr>
          <p:cNvSpPr txBox="1"/>
          <p:nvPr/>
        </p:nvSpPr>
        <p:spPr>
          <a:xfrm>
            <a:off x="609598" y="2053660"/>
            <a:ext cx="5722189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7"/>
              </a:lnSpc>
            </a:pPr>
            <a:r>
              <a:rPr lang="es-AR" sz="1738" dirty="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3- Entrenamiento de la red neuronal de cultivos.</a:t>
            </a:r>
          </a:p>
          <a:p>
            <a:pPr>
              <a:lnSpc>
                <a:spcPts val="2607"/>
              </a:lnSpc>
              <a:spcBef>
                <a:spcPct val="0"/>
              </a:spcBef>
            </a:pPr>
            <a:endParaRPr lang="es-AR" sz="1738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  <a:p>
            <a:pPr>
              <a:lnSpc>
                <a:spcPts val="2607"/>
              </a:lnSpc>
              <a:spcBef>
                <a:spcPct val="0"/>
              </a:spcBef>
            </a:pPr>
            <a:endParaRPr lang="en-US" sz="1738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879918F2-8B9D-D944-586B-499CF3678EEF}"/>
              </a:ext>
            </a:extLst>
          </p:cNvPr>
          <p:cNvSpPr txBox="1"/>
          <p:nvPr/>
        </p:nvSpPr>
        <p:spPr>
          <a:xfrm>
            <a:off x="489244" y="1232922"/>
            <a:ext cx="5997819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0"/>
              </a:lnSpc>
              <a:spcBef>
                <a:spcPct val="0"/>
              </a:spcBef>
            </a:pPr>
            <a:r>
              <a:rPr lang="es-AR" sz="5334" dirty="0">
                <a:solidFill>
                  <a:srgbClr val="000000"/>
                </a:solidFill>
                <a:latin typeface="Arial Black" panose="020B0A04020102020204" pitchFamily="34" charset="0"/>
                <a:ea typeface="Archivo Black"/>
                <a:cs typeface="Archivo Black"/>
                <a:sym typeface="Archivo Black"/>
              </a:rPr>
              <a:t>Funcionamiento</a:t>
            </a:r>
            <a:endParaRPr lang="en-US" sz="5334" dirty="0">
              <a:solidFill>
                <a:srgbClr val="000000"/>
              </a:solidFill>
              <a:latin typeface="Arial Black" panose="020B0A04020102020204" pitchFamily="34" charset="0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3" name="Imagen 2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67F8C8D7-7964-C389-6096-DAD6EBFB8A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8" y="2398144"/>
            <a:ext cx="11225843" cy="41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16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6C0E0-166E-46E4-3587-B14A00783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nner Presentacion.jpg">
            <a:extLst>
              <a:ext uri="{FF2B5EF4-FFF2-40B4-BE49-F238E27FC236}">
                <a16:creationId xmlns:a16="http://schemas.microsoft.com/office/drawing/2014/main" id="{DCA7D56F-7D2C-7227-4DCC-9A61A9FBB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04528"/>
          </a:xfrm>
          <a:prstGeom prst="rect">
            <a:avLst/>
          </a:prstGeom>
        </p:spPr>
      </p:pic>
      <p:sp>
        <p:nvSpPr>
          <p:cNvPr id="13" name="TextBox 3">
            <a:extLst>
              <a:ext uri="{FF2B5EF4-FFF2-40B4-BE49-F238E27FC236}">
                <a16:creationId xmlns:a16="http://schemas.microsoft.com/office/drawing/2014/main" id="{D6699907-954A-59D7-E4E0-1EC7B81A8D6E}"/>
              </a:ext>
            </a:extLst>
          </p:cNvPr>
          <p:cNvSpPr txBox="1"/>
          <p:nvPr/>
        </p:nvSpPr>
        <p:spPr>
          <a:xfrm>
            <a:off x="609598" y="2053660"/>
            <a:ext cx="5722189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7"/>
              </a:lnSpc>
            </a:pPr>
            <a:r>
              <a:rPr lang="es-AR" sz="1738" dirty="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4- Resultados del algoritmo genético.</a:t>
            </a:r>
          </a:p>
          <a:p>
            <a:pPr>
              <a:lnSpc>
                <a:spcPts val="2607"/>
              </a:lnSpc>
              <a:spcBef>
                <a:spcPct val="0"/>
              </a:spcBef>
            </a:pPr>
            <a:endParaRPr lang="es-AR" sz="1738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  <a:p>
            <a:pPr>
              <a:lnSpc>
                <a:spcPts val="2607"/>
              </a:lnSpc>
              <a:spcBef>
                <a:spcPct val="0"/>
              </a:spcBef>
            </a:pPr>
            <a:endParaRPr lang="en-US" sz="1738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24B6F4B3-AC2C-7069-9270-0334E1100431}"/>
              </a:ext>
            </a:extLst>
          </p:cNvPr>
          <p:cNvSpPr txBox="1"/>
          <p:nvPr/>
        </p:nvSpPr>
        <p:spPr>
          <a:xfrm>
            <a:off x="489244" y="1232922"/>
            <a:ext cx="5997819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0"/>
              </a:lnSpc>
              <a:spcBef>
                <a:spcPct val="0"/>
              </a:spcBef>
            </a:pPr>
            <a:r>
              <a:rPr lang="es-AR" sz="5334" dirty="0">
                <a:solidFill>
                  <a:srgbClr val="000000"/>
                </a:solidFill>
                <a:latin typeface="Arial Black" panose="020B0A04020102020204" pitchFamily="34" charset="0"/>
                <a:ea typeface="Archivo Black"/>
                <a:cs typeface="Archivo Black"/>
                <a:sym typeface="Archivo Black"/>
              </a:rPr>
              <a:t>Resultados</a:t>
            </a:r>
            <a:endParaRPr lang="en-US" sz="5334" dirty="0">
              <a:solidFill>
                <a:srgbClr val="000000"/>
              </a:solidFill>
              <a:latin typeface="Arial Black" panose="020B0A04020102020204" pitchFamily="34" charset="0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A751B4EA-5A7B-7EFC-85F7-C4F9D90AB1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7" y="2393365"/>
            <a:ext cx="11294855" cy="4343866"/>
          </a:xfrm>
          <a:prstGeom prst="rect">
            <a:avLst/>
          </a:prstGeom>
        </p:spPr>
      </p:pic>
      <p:pic>
        <p:nvPicPr>
          <p:cNvPr id="6" name="Imagen 5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184FEB86-8F07-43D6-2CE0-F862E1CD14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830" y="2393364"/>
            <a:ext cx="5840378" cy="436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36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nner Presentac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04528"/>
          </a:xfrm>
          <a:prstGeom prst="rect">
            <a:avLst/>
          </a:prstGeom>
        </p:spPr>
      </p:pic>
      <p:sp>
        <p:nvSpPr>
          <p:cNvPr id="9" name="TextBox 3"/>
          <p:cNvSpPr txBox="1"/>
          <p:nvPr/>
        </p:nvSpPr>
        <p:spPr>
          <a:xfrm>
            <a:off x="489245" y="2806785"/>
            <a:ext cx="7594600" cy="1975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2607"/>
              </a:lnSpc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Resumir los datos climáticos en niño, niña o neutro.</a:t>
            </a:r>
          </a:p>
          <a:p>
            <a:pPr marL="457200" indent="-457200">
              <a:lnSpc>
                <a:spcPts val="2607"/>
              </a:lnSpc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Implementar datos de más semillas para sembrar.</a:t>
            </a:r>
          </a:p>
          <a:p>
            <a:pPr marL="457200" indent="-457200">
              <a:lnSpc>
                <a:spcPts val="2607"/>
              </a:lnSpc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Incorporar costos de sembrado de cada semilla.</a:t>
            </a:r>
          </a:p>
          <a:p>
            <a:pPr marL="457200" indent="-457200">
              <a:lnSpc>
                <a:spcPts val="2607"/>
              </a:lnSpc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0000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Montaser Arabic"/>
              </a:rPr>
              <a:t>Separar los cultivos de invierno y de verano.</a:t>
            </a:r>
          </a:p>
          <a:p>
            <a:pPr marL="457200" indent="-457200">
              <a:lnSpc>
                <a:spcPts val="260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  <a:p>
            <a:pPr marL="457200" indent="-457200">
              <a:lnSpc>
                <a:spcPts val="260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Montaser Arabic"/>
            </a:endParaRPr>
          </a:p>
        </p:txBody>
      </p:sp>
      <p:sp>
        <p:nvSpPr>
          <p:cNvPr id="11" name="TextBox 6"/>
          <p:cNvSpPr txBox="1"/>
          <p:nvPr/>
        </p:nvSpPr>
        <p:spPr>
          <a:xfrm>
            <a:off x="489245" y="1232922"/>
            <a:ext cx="8214808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0"/>
              </a:lnSpc>
              <a:spcBef>
                <a:spcPct val="0"/>
              </a:spcBef>
            </a:pPr>
            <a:r>
              <a:rPr lang="en-US" sz="5334" dirty="0" err="1">
                <a:solidFill>
                  <a:srgbClr val="000000"/>
                </a:solidFill>
                <a:latin typeface="Arial Black" panose="020B0A04020102020204" pitchFamily="34" charset="0"/>
                <a:ea typeface="Archivo Black"/>
                <a:cs typeface="Archivo Black"/>
                <a:sym typeface="Archivo Black"/>
              </a:rPr>
              <a:t>Mejoras</a:t>
            </a:r>
            <a:r>
              <a:rPr lang="en-US" sz="5334" dirty="0">
                <a:solidFill>
                  <a:srgbClr val="000000"/>
                </a:solidFill>
                <a:latin typeface="Arial Black" panose="020B0A04020102020204" pitchFamily="34" charset="0"/>
                <a:ea typeface="Archivo Black"/>
                <a:cs typeface="Archivo Black"/>
                <a:sym typeface="Archivo Black"/>
              </a:rPr>
              <a:t> a </a:t>
            </a:r>
            <a:r>
              <a:rPr lang="en-US" sz="5334" dirty="0" err="1">
                <a:solidFill>
                  <a:srgbClr val="000000"/>
                </a:solidFill>
                <a:latin typeface="Arial Black" panose="020B0A04020102020204" pitchFamily="34" charset="0"/>
                <a:ea typeface="Archivo Black"/>
                <a:cs typeface="Archivo Black"/>
                <a:sym typeface="Archivo Black"/>
              </a:rPr>
              <a:t>futuro</a:t>
            </a:r>
            <a:endParaRPr lang="en-US" sz="5334" dirty="0">
              <a:solidFill>
                <a:srgbClr val="000000"/>
              </a:solidFill>
              <a:latin typeface="Arial Black" panose="020B0A04020102020204" pitchFamily="34" charset="0"/>
              <a:ea typeface="Archivo Black"/>
              <a:cs typeface="Archivo Black"/>
              <a:sym typeface="Archivo Black"/>
            </a:endParaRPr>
          </a:p>
        </p:txBody>
      </p:sp>
    </p:spTree>
    <p:extLst>
      <p:ext uri="{BB962C8B-B14F-4D97-AF65-F5344CB8AC3E}">
        <p14:creationId xmlns:p14="http://schemas.microsoft.com/office/powerpoint/2010/main" val="653784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475207" y="1962206"/>
            <a:ext cx="11163300" cy="1826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00000"/>
                </a:solidFill>
                <a:latin typeface="Arimo Bold"/>
                <a:ea typeface="Nourd Heavy"/>
                <a:cs typeface="Nourd Heavy"/>
                <a:sym typeface="Nourd Heavy"/>
              </a:rPr>
              <a:t>¡</a:t>
            </a:r>
            <a:r>
              <a:rPr lang="en-US" sz="7200" b="1" dirty="0" err="1">
                <a:solidFill>
                  <a:srgbClr val="000000"/>
                </a:solidFill>
                <a:latin typeface="Arimo Bold"/>
                <a:ea typeface="Nourd Heavy"/>
                <a:cs typeface="Nourd Heavy"/>
                <a:sym typeface="Nourd Heavy"/>
              </a:rPr>
              <a:t>Muchas</a:t>
            </a:r>
            <a:r>
              <a:rPr lang="en-US" sz="7200" b="1" dirty="0">
                <a:solidFill>
                  <a:srgbClr val="000000"/>
                </a:solidFill>
                <a:latin typeface="Arimo Bold"/>
                <a:ea typeface="Nourd Heavy"/>
                <a:cs typeface="Nourd Heavy"/>
                <a:sym typeface="Nourd Heavy"/>
              </a:rPr>
              <a:t> gracias!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3683" y="5448300"/>
            <a:ext cx="1209423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33"/>
              </a:lnSpc>
            </a:pPr>
            <a:r>
              <a:rPr lang="en-US" sz="1867" b="1" dirty="0" err="1">
                <a:solidFill>
                  <a:srgbClr val="000000"/>
                </a:solidFill>
                <a:latin typeface="Arial" panose="020B0604020202020204" pitchFamily="34" charset="0"/>
                <a:ea typeface="Montaser Arabic"/>
                <a:cs typeface="Arial" panose="020B0604020202020204" pitchFamily="34" charset="0"/>
                <a:sym typeface="Montaser Arabic"/>
              </a:rPr>
              <a:t>Contactos</a:t>
            </a:r>
            <a:r>
              <a:rPr lang="en-US" sz="1867" b="1" dirty="0">
                <a:solidFill>
                  <a:srgbClr val="000000"/>
                </a:solidFill>
                <a:latin typeface="Arial" panose="020B0604020202020204" pitchFamily="34" charset="0"/>
                <a:ea typeface="Montaser Arabic"/>
                <a:cs typeface="Arial" panose="020B0604020202020204" pitchFamily="34" charset="0"/>
                <a:sym typeface="Montaser Arabic"/>
              </a:rPr>
              <a:t>: </a:t>
            </a:r>
          </a:p>
          <a:p>
            <a:pPr marL="575761" lvl="1" indent="-287881">
              <a:lnSpc>
                <a:spcPts val="2933"/>
              </a:lnSpc>
              <a:buFont typeface="Arial"/>
              <a:buChar char="•"/>
            </a:pPr>
            <a:r>
              <a:rPr lang="es-AR" sz="2000" dirty="0">
                <a:solidFill>
                  <a:schemeClr val="tx2">
                    <a:lumMod val="75000"/>
                  </a:schemeClr>
                </a:solidFill>
                <a:latin typeface="Arimo"/>
                <a:ea typeface="Arimo"/>
                <a:cs typeface="Arimo"/>
                <a:sym typeface="Arimo"/>
              </a:rPr>
              <a:t>juancm.2000@hotmail.com – gustgiam2001@gmail.com – alexisjoelmateo@gmail.com</a:t>
            </a:r>
            <a:endParaRPr lang="en-US" sz="1867" dirty="0">
              <a:solidFill>
                <a:srgbClr val="000000"/>
              </a:solidFill>
              <a:latin typeface="Arial" panose="020B0604020202020204" pitchFamily="34" charset="0"/>
              <a:ea typeface="Montaser Arabic"/>
              <a:cs typeface="Arial" panose="020B0604020202020204" pitchFamily="34" charset="0"/>
              <a:sym typeface="Montaser Arabic"/>
            </a:endParaRPr>
          </a:p>
          <a:p>
            <a:pPr marL="575761" lvl="1" indent="-287881">
              <a:lnSpc>
                <a:spcPts val="2933"/>
              </a:lnSpc>
              <a:buFont typeface="Arial"/>
              <a:buChar char="•"/>
            </a:pPr>
            <a:r>
              <a:rPr lang="en-US" sz="1867" dirty="0">
                <a:solidFill>
                  <a:srgbClr val="000000"/>
                </a:solidFill>
                <a:latin typeface="Arial" panose="020B0604020202020204" pitchFamily="34" charset="0"/>
                <a:ea typeface="Montaser Arabic"/>
                <a:cs typeface="Arial" panose="020B0604020202020204" pitchFamily="34" charset="0"/>
                <a:sym typeface="Montaser Arabic"/>
              </a:rPr>
              <a:t>Redes </a:t>
            </a:r>
            <a:r>
              <a:rPr lang="en-US" sz="1867" dirty="0" err="1">
                <a:solidFill>
                  <a:srgbClr val="000000"/>
                </a:solidFill>
                <a:latin typeface="Arial" panose="020B0604020202020204" pitchFamily="34" charset="0"/>
                <a:ea typeface="Montaser Arabic"/>
                <a:cs typeface="Arial" panose="020B0604020202020204" pitchFamily="34" charset="0"/>
                <a:sym typeface="Montaser Arabic"/>
              </a:rPr>
              <a:t>Sociales</a:t>
            </a:r>
            <a:endParaRPr lang="en-US" sz="1867" dirty="0">
              <a:solidFill>
                <a:srgbClr val="000000"/>
              </a:solidFill>
              <a:latin typeface="Arial" panose="020B0604020202020204" pitchFamily="34" charset="0"/>
              <a:ea typeface="Montaser Arabic"/>
              <a:cs typeface="Arial" panose="020B0604020202020204" pitchFamily="34" charset="0"/>
              <a:sym typeface="Montaser Arabic"/>
            </a:endParaRPr>
          </a:p>
        </p:txBody>
      </p:sp>
      <p:pic>
        <p:nvPicPr>
          <p:cNvPr id="17" name="Picture 16" descr="Banner Presentac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0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89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361</Words>
  <Application>Microsoft Office PowerPoint</Application>
  <PresentationFormat>Panorámica</PresentationFormat>
  <Paragraphs>81</Paragraphs>
  <Slides>12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7</vt:i4>
      </vt:variant>
      <vt:variant>
        <vt:lpstr>Títulos de diapositiva</vt:lpstr>
      </vt:variant>
      <vt:variant>
        <vt:i4>12</vt:i4>
      </vt:variant>
    </vt:vector>
  </HeadingPairs>
  <TitlesOfParts>
    <vt:vector size="28" baseType="lpstr">
      <vt:lpstr>Aptos</vt:lpstr>
      <vt:lpstr>Arial</vt:lpstr>
      <vt:lpstr>Arial Black</vt:lpstr>
      <vt:lpstr>Arimo</vt:lpstr>
      <vt:lpstr>Arimo Bold</vt:lpstr>
      <vt:lpstr>Calibri</vt:lpstr>
      <vt:lpstr>Cambria Math</vt:lpstr>
      <vt:lpstr>Consolas</vt:lpstr>
      <vt:lpstr>Nourd Heavy</vt:lpstr>
      <vt:lpstr>Office Theme</vt:lpstr>
      <vt:lpstr>1_Office Theme</vt:lpstr>
      <vt:lpstr>2_Office Theme</vt:lpstr>
      <vt:lpstr>3_Office Theme</vt:lpstr>
      <vt:lpstr>4_Office Theme</vt:lpstr>
      <vt:lpstr>7_Office Theme</vt:lpstr>
      <vt:lpstr>8_Office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Vanesa</dc:creator>
  <cp:lastModifiedBy>Juan Cruz Mondino</cp:lastModifiedBy>
  <cp:revision>24</cp:revision>
  <dcterms:created xsi:type="dcterms:W3CDTF">2024-10-01T12:40:01Z</dcterms:created>
  <dcterms:modified xsi:type="dcterms:W3CDTF">2025-11-04T17:05:05Z</dcterms:modified>
</cp:coreProperties>
</file>